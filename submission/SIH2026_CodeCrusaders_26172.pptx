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Code Crusaders. ISRO problem statement 26172, SIH 2026. Wake word: "Hey Bitsy", trained from scratch. Confirm Theme and PS Category against the portal listing before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models: an INT8 keyword spotter on the ESP32-S3 and faster-whisper on the host. Measured on the ESP32-S3 build: 97 % accuracy, 16-74 ms inference (50 ms average), 16-177 KB SRAM (140 KB average). The three non-target bars are still to be captured from the held-out test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every link opens before uploading. Project repository link should be added here if the code is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182880"/>
            <a:ext cx="1371600" cy="59161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3774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3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77824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A87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PAGE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822960" y="1792224"/>
            <a:ext cx="128016" cy="128016"/>
          </a:xfrm>
          <a:prstGeom prst="ellipse">
            <a:avLst/>
          </a:prstGeom>
          <a:solidFill>
            <a:srgbClr val="3F8F8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52144" y="1572768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–  </a:t>
            </a:r>
            <a:pPr indent="0" marL="0">
              <a:buNone/>
            </a:pPr>
            <a:r>
              <a:rPr lang="en-US" sz="1700" b="1" dirty="0">
                <a:solidFill>
                  <a:srgbClr val="C08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26172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2569464"/>
            <a:ext cx="128016" cy="128016"/>
          </a:xfrm>
          <a:prstGeom prst="ellipse">
            <a:avLst/>
          </a:prstGeom>
          <a:solidFill>
            <a:srgbClr val="3F8F8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52144" y="2350008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–  </a:t>
            </a:r>
            <a:pPr indent="0" marL="0">
              <a:buNone/>
            </a:pPr>
            <a:r>
              <a:rPr lang="en-US" sz="17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and Efficient Voice Activator for Edge Devices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3346704"/>
            <a:ext cx="128016" cy="128016"/>
          </a:xfrm>
          <a:prstGeom prst="ellipse">
            <a:avLst/>
          </a:prstGeom>
          <a:solidFill>
            <a:srgbClr val="3F8F8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52144" y="3127248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–  </a:t>
            </a:r>
            <a:pPr indent="0" marL="0">
              <a:buNone/>
            </a:pPr>
            <a:r>
              <a:rPr lang="en-US" sz="17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Technology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22960" y="4123944"/>
            <a:ext cx="128016" cy="128016"/>
          </a:xfrm>
          <a:prstGeom prst="ellipse">
            <a:avLst/>
          </a:prstGeom>
          <a:solidFill>
            <a:srgbClr val="3F8F8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52144" y="3904488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–  </a:t>
            </a:r>
            <a:pPr indent="0" marL="0">
              <a:buNone/>
            </a:pPr>
            <a:r>
              <a:rPr lang="en-US" sz="17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22960" y="4901184"/>
            <a:ext cx="128016" cy="128016"/>
          </a:xfrm>
          <a:prstGeom prst="ellipse">
            <a:avLst/>
          </a:prstGeom>
          <a:solidFill>
            <a:srgbClr val="3F8F8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52144" y="4681728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–  </a:t>
            </a:r>
            <a:pPr indent="0" marL="0">
              <a:buNone/>
            </a:pPr>
            <a:r>
              <a:rPr lang="en-US" sz="1700" b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Crusaders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22960" y="5678424"/>
            <a:ext cx="128016" cy="128016"/>
          </a:xfrm>
          <a:prstGeom prst="ellipse">
            <a:avLst/>
          </a:prstGeom>
          <a:solidFill>
            <a:srgbClr val="3F8F8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52144" y="5458968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 –  </a:t>
            </a:r>
            <a:pPr indent="0" marL="0">
              <a:buNone/>
            </a:pPr>
            <a:r>
              <a:rPr lang="en-US" sz="1700" b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Crusaders</a:t>
            </a:r>
            <a:endParaRPr lang="en-US" sz="17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572768"/>
            <a:ext cx="2926080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182880"/>
            <a:ext cx="1371600" cy="59161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1463040" cy="6949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B5EA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0040" y="16459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Crusaders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21945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73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TITLE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C7B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200400" y="6446520"/>
            <a:ext cx="5788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969264"/>
            <a:ext cx="11457432" cy="658368"/>
          </a:xfrm>
          <a:prstGeom prst="roundRect">
            <a:avLst>
              <a:gd name="adj" fmla="val 5556"/>
            </a:avLst>
          </a:prstGeom>
          <a:solidFill>
            <a:srgbClr val="F7F9FB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" y="96926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8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HEY BITSY  </a:t>
            </a:r>
            <a:pPr indent="0" marL="0">
              <a:buNone/>
            </a:pPr>
            <a:r>
              <a:rPr lang="en-US" sz="1500" dirty="0">
                <a:solidFill>
                  <a:srgbClr val="273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an on-device custom wake-word voice activator for ISRO edge hardware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177393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(DESCRIBE YOUR IDEA / SOLUTION / PROTOTYPE)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066544"/>
            <a:ext cx="3593592" cy="420624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029968"/>
            <a:ext cx="3593592" cy="50292"/>
          </a:xfrm>
          <a:prstGeom prst="rect">
            <a:avLst/>
          </a:prstGeom>
          <a:solidFill>
            <a:srgbClr val="3F8F8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6928" y="22128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8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explanation of the proposed solution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889504"/>
            <a:ext cx="32552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with an INMP441 I2S MEMS microphone listens continuously on-device</a:t>
            </a:r>
            <a:endParaRPr lang="en-US" sz="125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INT8 Conv1D keyword spotter on 13 × 99 MFCC, four inferences per second</a:t>
            </a:r>
            <a:endParaRPr lang="en-US" sz="125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confirmed trigger a persistent WebSocket streams PCM to a FastAPI host</a:t>
            </a:r>
            <a:endParaRPr lang="en-US" sz="125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faster-whisper (Whisper Small, INT8, beam 5) transcribes the command</a:t>
            </a:r>
            <a:endParaRPr lang="en-US" sz="125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passes to a Qwen3 LLM and a Piper TTS spoken reply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15384" y="2066544"/>
            <a:ext cx="3593592" cy="420624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15384" y="2029968"/>
            <a:ext cx="3593592" cy="50292"/>
          </a:xfrm>
          <a:prstGeom prst="rect">
            <a:avLst/>
          </a:prstGeom>
          <a:solidFill>
            <a:srgbClr val="C0823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16552" y="22128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8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addresses the problem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398264" y="2889504"/>
            <a:ext cx="32552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detection stays inside the MCU — 177 KB peak SRAM of a 256 KB budget</a:t>
            </a:r>
            <a:endParaRPr lang="en-US" sz="125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ms average inference, so activation is instantaneous to the user</a:t>
            </a:r>
            <a:endParaRPr lang="en-US" sz="125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 dual-core idle duty leaves the radio and application logic free</a:t>
            </a:r>
            <a:endParaRPr lang="en-US" sz="125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network traffic until a trigger; 31.25 KB/s only while streaming</a:t>
            </a:r>
            <a:endParaRPr lang="en-US" sz="125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pipeline runs on a LAN — no internet path required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065008" y="2066544"/>
            <a:ext cx="3593592" cy="4206240"/>
          </a:xfrm>
          <a:prstGeom prst="roundRect">
            <a:avLst>
              <a:gd name="adj" fmla="val 1018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65008" y="2029968"/>
            <a:ext cx="3593592" cy="50292"/>
          </a:xfrm>
          <a:prstGeom prst="rect">
            <a:avLst/>
          </a:prstGeom>
          <a:solidFill>
            <a:srgbClr val="5B6CB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66176" y="22128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C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and uniqueness of the solution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247888" y="2889504"/>
            <a:ext cx="32552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word trained from scratch — no pre-trained commercial model is used</a:t>
            </a:r>
            <a:endParaRPr lang="en-US" sz="125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 false accept on “Hey Bixby”, its nearest commercial neighbour</a:t>
            </a:r>
            <a:endParaRPr lang="en-US" sz="125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Three-gate trigger: 0.80 softmax + two-slice agreement + 1500 ms cooldown</a:t>
            </a:r>
            <a:endParaRPr lang="en-US" sz="125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end to end, from microphone to spoken reply</a:t>
            </a:r>
            <a:endParaRPr lang="en-US" sz="125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2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Retargetable to any new keyword in about two hours, with no firmware change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182880"/>
            <a:ext cx="1371600" cy="59161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1463040" cy="6949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B5EA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0040" y="16459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Crusaders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21945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73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C7B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200400" y="6446520"/>
            <a:ext cx="5788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9509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TO BE USED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207008"/>
            <a:ext cx="3593592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71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59536" y="13167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8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hardware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1682496"/>
            <a:ext cx="3255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ESP32-S3-WROOM-1 N16R8 · dual-core @ 240 MHz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KB SRAM · 16 MB flash · 8 MB PSRAM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 I2S MEMS mic · 16 kHz / 16-bit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double buffer · 2 × 1024 samples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215384" y="1207008"/>
            <a:ext cx="3593592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37160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09160" y="13167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 — on-device KWS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398264" y="1682496"/>
            <a:ext cx="3255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→ TFLite Micro, EON-compiled C++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Conv1D + max-pool + dense softmax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post-training quantization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MFCC: 13 coeff · 32 Mel · 512-pt FFT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065008" y="1207008"/>
            <a:ext cx="3593592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1371600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558784" y="13167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C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 — host ASR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8247888" y="1682496"/>
            <a:ext cx="3255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· Whisper Small · INT8 · CPU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beam size 5 · 16 kHz PCM input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WebSocket host over local Wi-Fi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→ Qwen3 LLM → Piper TTS reply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365760" y="33101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PROCESS FOR IMPLEMENTATION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65760" y="3566160"/>
            <a:ext cx="1417320" cy="694944"/>
          </a:xfrm>
          <a:prstGeom prst="roundRect">
            <a:avLst>
              <a:gd name="adj" fmla="val 5263"/>
            </a:avLst>
          </a:prstGeom>
          <a:solidFill>
            <a:srgbClr val="F7F9FB"/>
          </a:solidFill>
          <a:ln w="12700">
            <a:solidFill>
              <a:srgbClr val="3F8F80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393192" y="363931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393192" y="3895344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I2S capture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783080" y="3566160"/>
            <a:ext cx="2359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2018995" y="3566160"/>
            <a:ext cx="1417320" cy="694944"/>
          </a:xfrm>
          <a:prstGeom prst="roundRect">
            <a:avLst>
              <a:gd name="adj" fmla="val 5263"/>
            </a:avLst>
          </a:prstGeom>
          <a:solidFill>
            <a:srgbClr val="F7F9FB"/>
          </a:solidFill>
          <a:ln w="12700">
            <a:solidFill>
              <a:srgbClr val="3F8F80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2046427" y="363931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2046427" y="3895344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× 99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3436315" y="3566160"/>
            <a:ext cx="2359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3672230" y="3566160"/>
            <a:ext cx="1417320" cy="694944"/>
          </a:xfrm>
          <a:prstGeom prst="roundRect">
            <a:avLst>
              <a:gd name="adj" fmla="val 5263"/>
            </a:avLst>
          </a:prstGeom>
          <a:solidFill>
            <a:srgbClr val="F7F9FB"/>
          </a:solidFill>
          <a:ln w="12700">
            <a:solidFill>
              <a:srgbClr val="C08238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3699662" y="363931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CNN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3699662" y="3895344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ms avg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5089550" y="3566160"/>
            <a:ext cx="2359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5325466" y="3566160"/>
            <a:ext cx="1417320" cy="694944"/>
          </a:xfrm>
          <a:prstGeom prst="roundRect">
            <a:avLst>
              <a:gd name="adj" fmla="val 5263"/>
            </a:avLst>
          </a:prstGeom>
          <a:solidFill>
            <a:srgbClr val="F7F9FB"/>
          </a:solidFill>
          <a:ln w="12700">
            <a:solidFill>
              <a:srgbClr val="C08238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352898" y="363931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5352898" y="3895344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 × 2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6742786" y="3566160"/>
            <a:ext cx="2359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978701" y="3566160"/>
            <a:ext cx="1417320" cy="694944"/>
          </a:xfrm>
          <a:prstGeom prst="roundRect">
            <a:avLst>
              <a:gd name="adj" fmla="val 5263"/>
            </a:avLst>
          </a:prstGeom>
          <a:solidFill>
            <a:srgbClr val="F7F9FB"/>
          </a:solidFill>
          <a:ln w="12700">
            <a:solidFill>
              <a:srgbClr val="5B6CB8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7006133" y="363931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7006133" y="3895344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host</a:t>
            </a:r>
            <a:endParaRPr lang="en-US" sz="950" dirty="0"/>
          </a:p>
        </p:txBody>
      </p:sp>
      <p:sp>
        <p:nvSpPr>
          <p:cNvPr id="42" name="Text 36"/>
          <p:cNvSpPr txBox="1"/>
          <p:nvPr/>
        </p:nvSpPr>
        <p:spPr>
          <a:xfrm>
            <a:off x="8396021" y="3566160"/>
            <a:ext cx="2359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8631936" y="3566160"/>
            <a:ext cx="1417320" cy="694944"/>
          </a:xfrm>
          <a:prstGeom prst="roundRect">
            <a:avLst>
              <a:gd name="adj" fmla="val 5263"/>
            </a:avLst>
          </a:prstGeom>
          <a:solidFill>
            <a:srgbClr val="F7F9FB"/>
          </a:solidFill>
          <a:ln w="12700">
            <a:solidFill>
              <a:srgbClr val="5B6CB8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659368" y="363931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8659368" y="3895344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· INT8</a:t>
            </a:r>
            <a:endParaRPr lang="en-US" sz="950" dirty="0"/>
          </a:p>
        </p:txBody>
      </p:sp>
      <p:sp>
        <p:nvSpPr>
          <p:cNvPr id="46" name="Text 40"/>
          <p:cNvSpPr txBox="1"/>
          <p:nvPr/>
        </p:nvSpPr>
        <p:spPr>
          <a:xfrm>
            <a:off x="10049256" y="3566160"/>
            <a:ext cx="2359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10285171" y="3566160"/>
            <a:ext cx="1417320" cy="694944"/>
          </a:xfrm>
          <a:prstGeom prst="roundRect">
            <a:avLst>
              <a:gd name="adj" fmla="val 5263"/>
            </a:avLst>
          </a:prstGeom>
          <a:solidFill>
            <a:srgbClr val="F7F9FB"/>
          </a:solidFill>
          <a:ln w="12700">
            <a:solidFill>
              <a:srgbClr val="A96A87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10312603" y="363931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6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→ Piper</a:t>
            </a:r>
            <a:endParaRPr lang="en-US" sz="1100" dirty="0"/>
          </a:p>
        </p:txBody>
      </p:sp>
      <p:sp>
        <p:nvSpPr>
          <p:cNvPr id="49" name="Text 43"/>
          <p:cNvSpPr txBox="1"/>
          <p:nvPr/>
        </p:nvSpPr>
        <p:spPr>
          <a:xfrm>
            <a:off x="10312603" y="3895344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reply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365760" y="4443984"/>
            <a:ext cx="5632704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566928" y="455371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MODELS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3657600" y="4846320"/>
            <a:ext cx="10973" cy="1298448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1517904" y="453542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8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wake word</a:t>
            </a:r>
            <a:endParaRPr lang="en-US" sz="1050" dirty="0"/>
          </a:p>
        </p:txBody>
      </p:sp>
      <p:sp>
        <p:nvSpPr>
          <p:cNvPr id="54" name="Text 48"/>
          <p:cNvSpPr txBox="1"/>
          <p:nvPr/>
        </p:nvSpPr>
        <p:spPr>
          <a:xfrm>
            <a:off x="3730752" y="453542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speech to text</a:t>
            </a:r>
            <a:endParaRPr lang="en-US" sz="1050" dirty="0"/>
          </a:p>
        </p:txBody>
      </p:sp>
      <p:sp>
        <p:nvSpPr>
          <p:cNvPr id="55" name="Text 49"/>
          <p:cNvSpPr txBox="1"/>
          <p:nvPr/>
        </p:nvSpPr>
        <p:spPr>
          <a:xfrm>
            <a:off x="566928" y="488289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</a:t>
            </a:r>
            <a:endParaRPr lang="en-US" sz="850" dirty="0"/>
          </a:p>
        </p:txBody>
      </p:sp>
      <p:sp>
        <p:nvSpPr>
          <p:cNvPr id="56" name="Text 50"/>
          <p:cNvSpPr txBox="1"/>
          <p:nvPr/>
        </p:nvSpPr>
        <p:spPr>
          <a:xfrm>
            <a:off x="1517904" y="48828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ESP32-S3, on-device</a:t>
            </a:r>
            <a:endParaRPr lang="en-US" sz="1000" dirty="0"/>
          </a:p>
        </p:txBody>
      </p:sp>
      <p:sp>
        <p:nvSpPr>
          <p:cNvPr id="57" name="Text 51"/>
          <p:cNvSpPr txBox="1"/>
          <p:nvPr/>
        </p:nvSpPr>
        <p:spPr>
          <a:xfrm>
            <a:off x="3730752" y="48828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host, CPU</a:t>
            </a:r>
            <a:endParaRPr lang="en-US" sz="1000" dirty="0"/>
          </a:p>
        </p:txBody>
      </p:sp>
      <p:sp>
        <p:nvSpPr>
          <p:cNvPr id="58" name="Text 52"/>
          <p:cNvSpPr txBox="1"/>
          <p:nvPr/>
        </p:nvSpPr>
        <p:spPr>
          <a:xfrm>
            <a:off x="566928" y="51480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850" dirty="0"/>
          </a:p>
        </p:txBody>
      </p:sp>
      <p:sp>
        <p:nvSpPr>
          <p:cNvPr id="59" name="Text 53"/>
          <p:cNvSpPr txBox="1"/>
          <p:nvPr/>
        </p:nvSpPr>
        <p:spPr>
          <a:xfrm>
            <a:off x="1517904" y="5148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Micro · INT8</a:t>
            </a:r>
            <a:endParaRPr lang="en-US" sz="1000" dirty="0"/>
          </a:p>
        </p:txBody>
      </p:sp>
      <p:sp>
        <p:nvSpPr>
          <p:cNvPr id="60" name="Text 54"/>
          <p:cNvSpPr txBox="1"/>
          <p:nvPr/>
        </p:nvSpPr>
        <p:spPr>
          <a:xfrm>
            <a:off x="3730752" y="51480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· INT8</a:t>
            </a:r>
            <a:endParaRPr lang="en-US" sz="1000" dirty="0"/>
          </a:p>
        </p:txBody>
      </p:sp>
      <p:sp>
        <p:nvSpPr>
          <p:cNvPr id="61" name="Text 55"/>
          <p:cNvSpPr txBox="1"/>
          <p:nvPr/>
        </p:nvSpPr>
        <p:spPr>
          <a:xfrm>
            <a:off x="566928" y="541324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850" dirty="0"/>
          </a:p>
        </p:txBody>
      </p:sp>
      <p:sp>
        <p:nvSpPr>
          <p:cNvPr id="62" name="Text 56"/>
          <p:cNvSpPr txBox="1"/>
          <p:nvPr/>
        </p:nvSpPr>
        <p:spPr>
          <a:xfrm>
            <a:off x="1517904" y="54132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“Hey Bitsy”</a:t>
            </a:r>
            <a:endParaRPr lang="en-US" sz="1000" dirty="0"/>
          </a:p>
        </p:txBody>
      </p:sp>
      <p:sp>
        <p:nvSpPr>
          <p:cNvPr id="63" name="Text 57"/>
          <p:cNvSpPr txBox="1"/>
          <p:nvPr/>
        </p:nvSpPr>
        <p:spPr>
          <a:xfrm>
            <a:off x="3730752" y="54132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the command</a:t>
            </a:r>
            <a:endParaRPr lang="en-US" sz="1000" dirty="0"/>
          </a:p>
        </p:txBody>
      </p:sp>
      <p:sp>
        <p:nvSpPr>
          <p:cNvPr id="64" name="Text 58"/>
          <p:cNvSpPr txBox="1"/>
          <p:nvPr/>
        </p:nvSpPr>
        <p:spPr>
          <a:xfrm>
            <a:off x="566928" y="5678424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850" dirty="0"/>
          </a:p>
        </p:txBody>
      </p:sp>
      <p:sp>
        <p:nvSpPr>
          <p:cNvPr id="65" name="Text 59"/>
          <p:cNvSpPr txBox="1"/>
          <p:nvPr/>
        </p:nvSpPr>
        <p:spPr>
          <a:xfrm>
            <a:off x="1517904" y="56784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ms avg (16–74 ms)</a:t>
            </a:r>
            <a:endParaRPr lang="en-US" sz="1000" dirty="0"/>
          </a:p>
        </p:txBody>
      </p:sp>
      <p:sp>
        <p:nvSpPr>
          <p:cNvPr id="66" name="Text 60"/>
          <p:cNvSpPr txBox="1"/>
          <p:nvPr/>
        </p:nvSpPr>
        <p:spPr>
          <a:xfrm>
            <a:off x="3730752" y="56784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s per utterance</a:t>
            </a:r>
            <a:endParaRPr lang="en-US" sz="1000" dirty="0"/>
          </a:p>
        </p:txBody>
      </p:sp>
      <p:sp>
        <p:nvSpPr>
          <p:cNvPr id="67" name="Text 61"/>
          <p:cNvSpPr txBox="1"/>
          <p:nvPr/>
        </p:nvSpPr>
        <p:spPr>
          <a:xfrm>
            <a:off x="566928" y="5943600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850" dirty="0"/>
          </a:p>
        </p:txBody>
      </p:sp>
      <p:sp>
        <p:nvSpPr>
          <p:cNvPr id="68" name="Text 62"/>
          <p:cNvSpPr txBox="1"/>
          <p:nvPr/>
        </p:nvSpPr>
        <p:spPr>
          <a:xfrm>
            <a:off x="1517904" y="5943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 KB peak SRAM</a:t>
            </a:r>
            <a:endParaRPr lang="en-US" sz="1000" dirty="0"/>
          </a:p>
        </p:txBody>
      </p:sp>
      <p:sp>
        <p:nvSpPr>
          <p:cNvPr id="69" name="Text 63"/>
          <p:cNvSpPr txBox="1"/>
          <p:nvPr/>
        </p:nvSpPr>
        <p:spPr>
          <a:xfrm>
            <a:off x="3730752" y="5943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Small, beam 5</a:t>
            </a:r>
            <a:endParaRPr lang="en-US" sz="1000" dirty="0"/>
          </a:p>
        </p:txBody>
      </p:sp>
      <p:sp>
        <p:nvSpPr>
          <p:cNvPr id="70" name="Shape 64"/>
          <p:cNvSpPr/>
          <p:nvPr/>
        </p:nvSpPr>
        <p:spPr>
          <a:xfrm>
            <a:off x="6190488" y="4443984"/>
            <a:ext cx="5632704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71" name="Text 65"/>
          <p:cNvSpPr txBox="1"/>
          <p:nvPr/>
        </p:nvSpPr>
        <p:spPr>
          <a:xfrm>
            <a:off x="6391656" y="45537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 — accept rate by scenario (%)</a:t>
            </a:r>
            <a:endParaRPr lang="en-US" sz="1400" dirty="0"/>
          </a:p>
        </p:txBody>
      </p:sp>
      <p:sp>
        <p:nvSpPr>
          <p:cNvPr id="72" name="Shape 66"/>
          <p:cNvSpPr/>
          <p:nvPr/>
        </p:nvSpPr>
        <p:spPr>
          <a:xfrm>
            <a:off x="6419088" y="5870448"/>
            <a:ext cx="5230368" cy="12802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73" name="Shape 67"/>
          <p:cNvSpPr/>
          <p:nvPr/>
        </p:nvSpPr>
        <p:spPr>
          <a:xfrm>
            <a:off x="6780276" y="5107656"/>
            <a:ext cx="585216" cy="762792"/>
          </a:xfrm>
          <a:prstGeom prst="rect">
            <a:avLst/>
          </a:prstGeom>
          <a:solidFill>
            <a:srgbClr val="3F8F80"/>
          </a:solidFill>
          <a:ln w="12700">
            <a:solidFill>
              <a:srgbClr val="3F8F80"/>
            </a:solidFill>
            <a:prstDash val="solid"/>
          </a:ln>
        </p:spPr>
      </p:sp>
      <p:sp>
        <p:nvSpPr>
          <p:cNvPr id="74" name="Text 68"/>
          <p:cNvSpPr txBox="1"/>
          <p:nvPr/>
        </p:nvSpPr>
        <p:spPr>
          <a:xfrm>
            <a:off x="6451092" y="485162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97 %</a:t>
            </a:r>
            <a:endParaRPr lang="en-US" sz="1100" dirty="0"/>
          </a:p>
        </p:txBody>
      </p:sp>
      <p:sp>
        <p:nvSpPr>
          <p:cNvPr id="75" name="Text 69"/>
          <p:cNvSpPr txBox="1"/>
          <p:nvPr/>
        </p:nvSpPr>
        <p:spPr>
          <a:xfrm>
            <a:off x="6432804" y="59253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keyword</a:t>
            </a:r>
            <a:endParaRPr lang="en-US" sz="950" dirty="0"/>
          </a:p>
        </p:txBody>
      </p:sp>
      <p:sp>
        <p:nvSpPr>
          <p:cNvPr id="76" name="Shape 70"/>
          <p:cNvSpPr/>
          <p:nvPr/>
        </p:nvSpPr>
        <p:spPr>
          <a:xfrm>
            <a:off x="8087868" y="5846070"/>
            <a:ext cx="585216" cy="24378"/>
          </a:xfrm>
          <a:prstGeom prst="rect">
            <a:avLst/>
          </a:prstGeom>
          <a:solidFill>
            <a:srgbClr val="C08238"/>
          </a:solidFill>
          <a:ln w="12700">
            <a:solidFill>
              <a:srgbClr val="C08238"/>
            </a:solidFill>
            <a:prstDash val="solid"/>
          </a:ln>
        </p:spPr>
      </p:sp>
      <p:sp>
        <p:nvSpPr>
          <p:cNvPr id="77" name="Text 71"/>
          <p:cNvSpPr txBox="1"/>
          <p:nvPr/>
        </p:nvSpPr>
        <p:spPr>
          <a:xfrm>
            <a:off x="7758684" y="559003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3.1 %</a:t>
            </a:r>
            <a:endParaRPr lang="en-US" sz="1100" dirty="0"/>
          </a:p>
        </p:txBody>
      </p:sp>
      <p:sp>
        <p:nvSpPr>
          <p:cNvPr id="78" name="Text 72"/>
          <p:cNvSpPr txBox="1"/>
          <p:nvPr/>
        </p:nvSpPr>
        <p:spPr>
          <a:xfrm>
            <a:off x="7740396" y="59253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 near-words</a:t>
            </a:r>
            <a:endParaRPr lang="en-US" sz="950" dirty="0"/>
          </a:p>
        </p:txBody>
      </p:sp>
      <p:sp>
        <p:nvSpPr>
          <p:cNvPr id="79" name="Text 73"/>
          <p:cNvSpPr txBox="1"/>
          <p:nvPr/>
        </p:nvSpPr>
        <p:spPr>
          <a:xfrm>
            <a:off x="9066276" y="5614416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1100" dirty="0"/>
          </a:p>
        </p:txBody>
      </p:sp>
      <p:sp>
        <p:nvSpPr>
          <p:cNvPr id="80" name="Text 74"/>
          <p:cNvSpPr txBox="1"/>
          <p:nvPr/>
        </p:nvSpPr>
        <p:spPr>
          <a:xfrm>
            <a:off x="9047988" y="59253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 Bixby / Alexa</a:t>
            </a:r>
            <a:endParaRPr lang="en-US" sz="950" dirty="0"/>
          </a:p>
        </p:txBody>
      </p:sp>
      <p:sp>
        <p:nvSpPr>
          <p:cNvPr id="81" name="Shape 75"/>
          <p:cNvSpPr/>
          <p:nvPr/>
        </p:nvSpPr>
        <p:spPr>
          <a:xfrm>
            <a:off x="10703052" y="5205954"/>
            <a:ext cx="585216" cy="664494"/>
          </a:xfrm>
          <a:prstGeom prst="rect">
            <a:avLst/>
          </a:prstGeom>
          <a:solidFill>
            <a:srgbClr val="5B6CB8"/>
          </a:solidFill>
          <a:ln w="12700">
            <a:solidFill>
              <a:srgbClr val="5B6CB8"/>
            </a:solidFill>
            <a:prstDash val="solid"/>
          </a:ln>
        </p:spPr>
      </p:sp>
      <p:sp>
        <p:nvSpPr>
          <p:cNvPr id="82" name="Text 76"/>
          <p:cNvSpPr txBox="1"/>
          <p:nvPr/>
        </p:nvSpPr>
        <p:spPr>
          <a:xfrm>
            <a:off x="10373868" y="494992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84.5 %</a:t>
            </a:r>
            <a:endParaRPr lang="en-US" sz="1100" dirty="0"/>
          </a:p>
        </p:txBody>
      </p:sp>
      <p:sp>
        <p:nvSpPr>
          <p:cNvPr id="83" name="Text 77"/>
          <p:cNvSpPr txBox="1"/>
          <p:nvPr/>
        </p:nvSpPr>
        <p:spPr>
          <a:xfrm>
            <a:off x="10355580" y="59253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65–75 dB noise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182880"/>
            <a:ext cx="1371600" cy="59161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1463040" cy="6949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B5EA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0040" y="16459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Crusaders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21945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73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C7B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200400" y="6446520"/>
            <a:ext cx="5788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9509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THE FEASIBILITY OF THE IDEA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207008"/>
            <a:ext cx="11457432" cy="969264"/>
          </a:xfrm>
          <a:prstGeom prst="roundRect">
            <a:avLst>
              <a:gd name="adj" fmla="val 3774"/>
            </a:avLst>
          </a:prstGeom>
          <a:solidFill>
            <a:srgbClr val="F7F9FB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12984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F8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₹1,097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17190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BOM per node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419856" y="12984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8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3419856" y="17190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toolchain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272784" y="12984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B6C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69 %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6272784" y="17190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SRAM budget used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25712" y="12984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96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hrs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9125712" y="17190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retarget a new keyword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2340864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AND RISKS  ·  STRATEGIES FOR OVERCOMING THESE CHALLENGES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2560320"/>
            <a:ext cx="5632704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743200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59536" y="26791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&amp; flash footprint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4334256" y="268833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KB ceiling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3017520"/>
            <a:ext cx="5266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TFLite Micro arena exhausts SRAM only once Wi-Fi allocates, so the heap fails on connection, not at boot.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 </a:t>
            </a:r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quantization, EON compiler, and an arena sized to measured peak; PSRAM keeps the audio buffer off model memory.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66928" y="3977640"/>
            <a:ext cx="5230368" cy="91440"/>
          </a:xfrm>
          <a:prstGeom prst="roundRect">
            <a:avLst>
              <a:gd name="adj" fmla="val 900000"/>
            </a:avLst>
          </a:prstGeom>
          <a:solidFill>
            <a:srgbClr val="EDF0F5"/>
          </a:solidFill>
          <a:ln w="12700">
            <a:solidFill>
              <a:srgbClr val="EDF0F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66928" y="3977640"/>
            <a:ext cx="3608954" cy="91440"/>
          </a:xfrm>
          <a:prstGeom prst="roundRect">
            <a:avLst>
              <a:gd name="adj" fmla="val 900000"/>
            </a:avLst>
          </a:prstGeom>
          <a:solidFill>
            <a:srgbClr val="3F8F80"/>
          </a:solidFill>
          <a:ln w="12700">
            <a:solidFill>
              <a:srgbClr val="3F8F8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66928" y="40965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 KB peak · 140 KB average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2834640" y="409651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69 % of ceiling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190488" y="2560320"/>
            <a:ext cx="5632704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2743200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684264" y="26791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load &amp; power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10158984" y="268833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8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10 % idle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6373368" y="3017520"/>
            <a:ext cx="5266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MFCC and inference at four slices per second is the dominant load and can starve the Wi-Fi task.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 </a:t>
            </a:r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 core 1, network on core 0, DMA removes busy-wait, energy gate skips the network when quiet.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391656" y="3977640"/>
            <a:ext cx="5230368" cy="91440"/>
          </a:xfrm>
          <a:prstGeom prst="roundRect">
            <a:avLst>
              <a:gd name="adj" fmla="val 900000"/>
            </a:avLst>
          </a:prstGeom>
          <a:solidFill>
            <a:srgbClr val="EDF0F5"/>
          </a:solidFill>
          <a:ln w="12700">
            <a:solidFill>
              <a:srgbClr val="EDF0F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391656" y="3977640"/>
            <a:ext cx="1046074" cy="91440"/>
          </a:xfrm>
          <a:prstGeom prst="roundRect">
            <a:avLst>
              <a:gd name="adj" fmla="val 900000"/>
            </a:avLst>
          </a:prstGeom>
          <a:solidFill>
            <a:srgbClr val="C08238"/>
          </a:solidFill>
          <a:ln w="12700">
            <a:solidFill>
              <a:srgbClr val="C08238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391656" y="40965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 dual-core · 20 % of core 1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8659368" y="409651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ms per 250 ms slice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365760" y="4443984"/>
            <a:ext cx="5632704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626864"/>
            <a:ext cx="201168" cy="201168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59536" y="45628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vs ASR latency</a:t>
            </a:r>
            <a:endParaRPr lang="en-US" sz="1350" dirty="0"/>
          </a:p>
        </p:txBody>
      </p:sp>
      <p:sp>
        <p:nvSpPr>
          <p:cNvPr id="41" name="Text 35"/>
          <p:cNvSpPr txBox="1"/>
          <p:nvPr/>
        </p:nvSpPr>
        <p:spPr>
          <a:xfrm>
            <a:off x="4334256" y="457200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ms slice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548640" y="4901184"/>
            <a:ext cx="5266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detection is fast, but Whisper Small at beam 5 on laptop CPU currently returns a transcript in 30–50 s.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 </a:t>
            </a:r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is decoupled from transcription; greedy decoding, a smaller checkpoint, VAD trimming and a pre-warmed model are the path to single-digit seconds.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566928" y="5861304"/>
            <a:ext cx="5230368" cy="91440"/>
          </a:xfrm>
          <a:prstGeom prst="roundRect">
            <a:avLst>
              <a:gd name="adj" fmla="val 900000"/>
            </a:avLst>
          </a:prstGeom>
          <a:solidFill>
            <a:srgbClr val="EDF0F5"/>
          </a:solidFill>
          <a:ln w="12700">
            <a:solidFill>
              <a:srgbClr val="EDF0F5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566928" y="5861304"/>
            <a:ext cx="1569110" cy="91440"/>
          </a:xfrm>
          <a:prstGeom prst="roundRect">
            <a:avLst>
              <a:gd name="adj" fmla="val 900000"/>
            </a:avLst>
          </a:prstGeom>
          <a:solidFill>
            <a:srgbClr val="5B6CB8"/>
          </a:solidFill>
          <a:ln w="12700">
            <a:solidFill>
              <a:srgbClr val="5B6CB8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566928" y="59801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50 ms avg · 74 ms worst case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2834640" y="5980176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30–50 s, optimisation in progress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6190488" y="4443984"/>
            <a:ext cx="5632704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26864"/>
            <a:ext cx="201168" cy="201168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6684264" y="45628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3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activation &amp; noise</a:t>
            </a:r>
            <a:endParaRPr lang="en-US" sz="1350" dirty="0"/>
          </a:p>
        </p:txBody>
      </p:sp>
      <p:sp>
        <p:nvSpPr>
          <p:cNvPr id="50" name="Text 43"/>
          <p:cNvSpPr txBox="1"/>
          <p:nvPr/>
        </p:nvSpPr>
        <p:spPr>
          <a:xfrm>
            <a:off x="10158984" y="457200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6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 / hour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6373368" y="4901184"/>
            <a:ext cx="5266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single-frame threshold crossing fires on transient noise, and a device that self-triggers is unusable.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 </a:t>
            </a:r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gates — 0.80 threshold, two-slice agreement, 1500 ms cooldown — plus phonetic neighbours as negatives.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6391656" y="5861304"/>
            <a:ext cx="5230368" cy="91440"/>
          </a:xfrm>
          <a:prstGeom prst="roundRect">
            <a:avLst>
              <a:gd name="adj" fmla="val 900000"/>
            </a:avLst>
          </a:prstGeom>
          <a:solidFill>
            <a:srgbClr val="EDF0F5"/>
          </a:solidFill>
          <a:ln w="12700">
            <a:solidFill>
              <a:srgbClr val="EDF0F5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391656" y="5861304"/>
            <a:ext cx="3661258" cy="91440"/>
          </a:xfrm>
          <a:prstGeom prst="roundRect">
            <a:avLst>
              <a:gd name="adj" fmla="val 900000"/>
            </a:avLst>
          </a:prstGeom>
          <a:solidFill>
            <a:srgbClr val="A96A87"/>
          </a:solidFill>
          <a:ln w="12700">
            <a:solidFill>
              <a:srgbClr val="A96A87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6391656" y="59801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6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false accepts / hour</a:t>
            </a:r>
            <a:endParaRPr lang="en-US" sz="1000" dirty="0"/>
          </a:p>
        </p:txBody>
      </p:sp>
      <p:sp>
        <p:nvSpPr>
          <p:cNvPr id="55" name="Text 48"/>
          <p:cNvSpPr txBox="1"/>
          <p:nvPr/>
        </p:nvSpPr>
        <p:spPr>
          <a:xfrm>
            <a:off x="8659368" y="5980176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 of allowed ceiling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182880"/>
            <a:ext cx="1371600" cy="59161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1463040" cy="6949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B5EA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0040" y="16459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Crusaders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21945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73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C7B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200400" y="6446520"/>
            <a:ext cx="5788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969264"/>
            <a:ext cx="274320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0241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F8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ms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361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WAKE LATENCY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55264" y="969264"/>
            <a:ext cx="274320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38144" y="10241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08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97 %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3438144" y="15361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44768" y="969264"/>
            <a:ext cx="274320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7648" y="10241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B6C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177 KB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6327648" y="15361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SRAM OF 256 KB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034272" y="969264"/>
            <a:ext cx="274320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17152" y="10241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A96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₹1,097</a:t>
            </a:r>
            <a:endParaRPr lang="en-US" sz="2500" dirty="0"/>
          </a:p>
        </p:txBody>
      </p:sp>
      <p:sp>
        <p:nvSpPr>
          <p:cNvPr id="20" name="Text 17"/>
          <p:cNvSpPr txBox="1"/>
          <p:nvPr/>
        </p:nvSpPr>
        <p:spPr>
          <a:xfrm>
            <a:off x="9217152" y="15361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7A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 / NODE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21762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 ON THE TARGET AUDIENCE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2432304"/>
            <a:ext cx="5632704" cy="3803904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15184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77824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serves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566928" y="29443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cleanroom and integration technicians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566928" y="3172968"/>
            <a:ext cx="5248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Gloved, gowned hands cannot use a keypad; voice is the only free input channel.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566928" y="361188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Ground-station and telemetry operators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566928" y="3840480"/>
            <a:ext cx="5248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work leaves hands occupied; a spoken command logs an event without breaking the task.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566928" y="427939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and field installations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566928" y="4507992"/>
            <a:ext cx="5248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ASR, LLM and TTS all run on a local host, so the system works with a LAN and no internet path.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566928" y="494690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with limited mobility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566928" y="5175504"/>
            <a:ext cx="5248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control widens who can operate instrumentation without assistive hardware.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566928" y="56144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team needing a private wake word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566928" y="5843016"/>
            <a:ext cx="5248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Retrains to a new keyword in about two hours with no firmware change.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6190488" y="21762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SOLUTION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190488" y="2432304"/>
            <a:ext cx="5632704" cy="3803904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2615184"/>
            <a:ext cx="219456" cy="219456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702552" y="2560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· Economic · Environmental</a:t>
            </a:r>
            <a:endParaRPr lang="en-US" sz="1400" dirty="0"/>
          </a:p>
        </p:txBody>
      </p:sp>
      <p:sp>
        <p:nvSpPr>
          <p:cNvPr id="39" name="Text 34"/>
          <p:cNvSpPr txBox="1"/>
          <p:nvPr/>
        </p:nvSpPr>
        <p:spPr>
          <a:xfrm>
            <a:off x="6391656" y="29443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  </a:t>
            </a:r>
            <a:pPr indent="0" marL="0">
              <a:buNone/>
            </a:pPr>
            <a:r>
              <a:rPr lang="en-US" sz="1200" b="1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6391656" y="3172968"/>
            <a:ext cx="5248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audio leaves the node until a confirmed trigger; idle bandwidth is zero, against 31.25 KB/s if streaming.</a:t>
            </a:r>
            <a:endParaRPr lang="en-US" sz="1100" dirty="0"/>
          </a:p>
        </p:txBody>
      </p:sp>
      <p:sp>
        <p:nvSpPr>
          <p:cNvPr id="41" name="Text 36"/>
          <p:cNvSpPr txBox="1"/>
          <p:nvPr/>
        </p:nvSpPr>
        <p:spPr>
          <a:xfrm>
            <a:off x="6391656" y="361188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  </a:t>
            </a:r>
            <a:pPr indent="0" marL="0">
              <a:buNone/>
            </a:pPr>
            <a:r>
              <a:rPr lang="en-US" sz="1200" b="1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Accessible, hands-free operation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6391656" y="3840480"/>
            <a:ext cx="5248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control removes a physical barrier for gloved, occupied or mobility-limited operators.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6391656" y="427939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08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  </a:t>
            </a:r>
            <a:pPr indent="0" marL="0">
              <a:buNone/>
            </a:pPr>
            <a:r>
              <a:rPr lang="en-US" sz="1200" b="1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₹1,097 per node, no licence fees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6391656" y="4507992"/>
            <a:ext cx="5248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ESP32-S3 and INMP441 parts, no custom silicon, no wake-word engine to licence.</a:t>
            </a:r>
            <a:endParaRPr lang="en-US" sz="1100" dirty="0"/>
          </a:p>
        </p:txBody>
      </p:sp>
      <p:sp>
        <p:nvSpPr>
          <p:cNvPr id="45" name="Text 40"/>
          <p:cNvSpPr txBox="1"/>
          <p:nvPr/>
        </p:nvSpPr>
        <p:spPr>
          <a:xfrm>
            <a:off x="6391656" y="494690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08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  </a:t>
            </a:r>
            <a:pPr indent="0" marL="0">
              <a:buNone/>
            </a:pPr>
            <a:r>
              <a:rPr lang="en-US" sz="1200" b="1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without cloud cost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6391656" y="5175504"/>
            <a:ext cx="5248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runs on an existing local host, so adding nodes adds no per-query cloud spend.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6391656" y="56144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  </a:t>
            </a:r>
            <a:pPr indent="0" marL="0">
              <a:buNone/>
            </a:pPr>
            <a:r>
              <a:rPr lang="en-US" sz="1200" b="1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always-on energy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6391656" y="5843016"/>
            <a:ext cx="5248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10 % duty cycle on MCU-class silicon replaces continuous streaming and continuous cloud inference.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182880"/>
            <a:ext cx="1371600" cy="59161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1463040" cy="6949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B5EA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0040" y="16459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Crusaders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21945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73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 AND REFERENCES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C7BC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200400" y="6446520"/>
            <a:ext cx="5788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9509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/ LINKS OF THE REFERENCE AND RESEARCH WORK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207008"/>
            <a:ext cx="5632704" cy="4443984"/>
          </a:xfrm>
          <a:prstGeom prst="roundRect">
            <a:avLst>
              <a:gd name="adj" fmla="val 823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1207008"/>
            <a:ext cx="5632704" cy="50292"/>
          </a:xfrm>
          <a:prstGeom prst="rect">
            <a:avLst/>
          </a:prstGeom>
          <a:solidFill>
            <a:srgbClr val="3F8F8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" y="13533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8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85216" y="1856232"/>
            <a:ext cx="91440" cy="91440"/>
          </a:xfrm>
          <a:prstGeom prst="ellipse">
            <a:avLst/>
          </a:prstGeom>
          <a:solidFill>
            <a:srgbClr val="3F8F8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" y="1773936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Suda, Lai &amp; Chandra — Hello Edge: Keyword Spotting on Microcontrollers (2017)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04672" y="223113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arxiv.org/abs/1711.07128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5216" y="3081528"/>
            <a:ext cx="91440" cy="91440"/>
          </a:xfrm>
          <a:prstGeom prst="ellipse">
            <a:avLst/>
          </a:prstGeom>
          <a:solidFill>
            <a:srgbClr val="3F8F8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" y="2999232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— Speech Commands: A Dataset for Limited-Vocabulary Speech Recognition (2018)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04672" y="345643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arxiv.org/abs/1804.03209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85216" y="4306824"/>
            <a:ext cx="91440" cy="91440"/>
          </a:xfrm>
          <a:prstGeom prst="ellipse">
            <a:avLst/>
          </a:prstGeom>
          <a:solidFill>
            <a:srgbClr val="3F8F8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4672" y="4224528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Radford et al. — Robust Speech Recognition via Large-Scale Weak Supervision (Whisper, 2022)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04672" y="4681728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arxiv.org/abs/2212.04356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90488" y="1207008"/>
            <a:ext cx="5632704" cy="4443984"/>
          </a:xfrm>
          <a:prstGeom prst="roundRect">
            <a:avLst>
              <a:gd name="adj" fmla="val 823"/>
            </a:avLst>
          </a:prstGeom>
          <a:solidFill>
            <a:srgbClr val="FFFFFF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90488" y="1207008"/>
            <a:ext cx="5632704" cy="50292"/>
          </a:xfrm>
          <a:prstGeom prst="rect">
            <a:avLst/>
          </a:prstGeom>
          <a:solidFill>
            <a:srgbClr val="5B6CB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91656" y="13533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6C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Frameworks, tools &amp; hardware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409944" y="1856232"/>
            <a:ext cx="91440" cy="91440"/>
          </a:xfrm>
          <a:prstGeom prst="ellipse">
            <a:avLst/>
          </a:prstGeom>
          <a:solidFill>
            <a:srgbClr val="5B6CB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29400" y="177393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for Microcontrollers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629400" y="2011680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github.com/tensorflow/tflite-micro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09944" y="2331720"/>
            <a:ext cx="91440" cy="91440"/>
          </a:xfrm>
          <a:prstGeom prst="ellipse">
            <a:avLst/>
          </a:prstGeom>
          <a:solidFill>
            <a:srgbClr val="5B6CB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629400" y="2249424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— model training and EON compiler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6629400" y="2487168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docs.edgeimpulse.com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409944" y="2807208"/>
            <a:ext cx="91440" cy="91440"/>
          </a:xfrm>
          <a:prstGeom prst="ellipse">
            <a:avLst/>
          </a:prstGeom>
          <a:solidFill>
            <a:srgbClr val="5B6CB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629400" y="272491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(SYSTRAN) — CTranslate2 Whisper runtime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6629400" y="296265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github.com/SYSTRAN/faster-whisper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409944" y="3282696"/>
            <a:ext cx="91440" cy="91440"/>
          </a:xfrm>
          <a:prstGeom prst="ellipse">
            <a:avLst/>
          </a:prstGeom>
          <a:solidFill>
            <a:srgbClr val="5B6CB8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629400" y="3200400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TTS — Open Home Foundation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6629400" y="3438144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github.com/OHF-Voice/piper1-gpl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409944" y="3758184"/>
            <a:ext cx="91440" cy="91440"/>
          </a:xfrm>
          <a:prstGeom prst="ellipse">
            <a:avLst/>
          </a:prstGeom>
          <a:solidFill>
            <a:srgbClr val="5B6CB8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629400" y="3675888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large language model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6629400" y="391363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github.com/QwenLM/Qwen3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409944" y="4233672"/>
            <a:ext cx="91440" cy="91440"/>
          </a:xfrm>
          <a:prstGeom prst="ellipse">
            <a:avLst/>
          </a:prstGeom>
          <a:solidFill>
            <a:srgbClr val="5B6CB8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629400" y="415137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WebSocket host framework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6629400" y="4389120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fastapi.tiangolo.com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409944" y="4709160"/>
            <a:ext cx="91440" cy="91440"/>
          </a:xfrm>
          <a:prstGeom prst="ellipse">
            <a:avLst/>
          </a:prstGeom>
          <a:solidFill>
            <a:srgbClr val="5B6CB8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629400" y="4626864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 — ESP32-S3 Technical Reference Manual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6629400" y="4864608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espressif.com/en/support/documents/technical-documents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409944" y="5184648"/>
            <a:ext cx="91440" cy="91440"/>
          </a:xfrm>
          <a:prstGeom prst="ellipse">
            <a:avLst/>
          </a:prstGeom>
          <a:solidFill>
            <a:srgbClr val="5B6CB8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629400" y="510235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TDK InvenSense INMP441 MEMS microphone datasheet</a:t>
            </a:r>
            <a:endParaRPr lang="en-US" sz="1150" dirty="0"/>
          </a:p>
        </p:txBody>
      </p:sp>
      <p:sp>
        <p:nvSpPr>
          <p:cNvPr id="48" name="Text 45"/>
          <p:cNvSpPr txBox="1"/>
          <p:nvPr/>
        </p:nvSpPr>
        <p:spPr>
          <a:xfrm>
            <a:off x="6629400" y="534009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invensense.tdk.com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365760" y="5760720"/>
            <a:ext cx="11457432" cy="566928"/>
          </a:xfrm>
          <a:prstGeom prst="roundRect">
            <a:avLst>
              <a:gd name="adj" fmla="val 6452"/>
            </a:avLst>
          </a:prstGeom>
          <a:solidFill>
            <a:srgbClr val="F7F9FB"/>
          </a:solidFill>
          <a:ln w="12700">
            <a:solidFill>
              <a:srgbClr val="DFE4E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03504" y="57607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3F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note   </a:t>
            </a:r>
            <a:pPr indent="0" marL="0">
              <a:buNone/>
            </a:pPr>
            <a:r>
              <a:rPr lang="en-US" sz="1100" dirty="0">
                <a:solidFill>
                  <a:srgbClr val="27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26172 prohibits pre-trained wake-word models. This keyword model is trained from scratch on a self-recorded dataset with open-source tooling.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2026 · PS 26172 · Code Crusaders</dc:title>
  <dc:subject>PptxGenJS Presentation</dc:subject>
  <dc:creator>Team Code Crusaders — SIH 2026</dc:creator>
  <cp:lastModifiedBy>Team Code Crusaders — SIH 2026</cp:lastModifiedBy>
  <cp:revision>1</cp:revision>
  <dcterms:created xsi:type="dcterms:W3CDTF">2026-09-10T07:53:20Z</dcterms:created>
  <dcterms:modified xsi:type="dcterms:W3CDTF">2026-09-10T07:53:20Z</dcterms:modified>
</cp:coreProperties>
</file>